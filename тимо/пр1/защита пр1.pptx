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78" r:id="rId4"/>
    <p:sldId id="279" r:id="rId5"/>
    <p:sldId id="281" r:id="rId6"/>
    <p:sldId id="280" r:id="rId7"/>
    <p:sldId id="282" r:id="rId8"/>
    <p:sldId id="285" r:id="rId9"/>
    <p:sldId id="284" r:id="rId10"/>
    <p:sldId id="283" r:id="rId11"/>
    <p:sldId id="286" r:id="rId12"/>
    <p:sldId id="289" r:id="rId13"/>
    <p:sldId id="287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300" r:id="rId24"/>
    <p:sldId id="301" r:id="rId25"/>
    <p:sldId id="302" r:id="rId26"/>
    <p:sldId id="303" r:id="rId27"/>
    <p:sldId id="277" r:id="rId2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883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3527" y="628853"/>
            <a:ext cx="9246235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9559" y="1793494"/>
            <a:ext cx="9655810" cy="4284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5001" y="2571064"/>
            <a:ext cx="6794500" cy="14747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ts val="5675"/>
              </a:lnSpc>
              <a:spcBef>
                <a:spcPts val="100"/>
              </a:spcBef>
            </a:pPr>
            <a:r>
              <a:rPr lang="ru-RU" sz="4800" dirty="0"/>
              <a:t>Защита практической работы №1</a:t>
            </a:r>
            <a:endParaRPr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A6CB40-3FBA-5AC0-9F2E-5CB35E38A504}"/>
              </a:ext>
            </a:extLst>
          </p:cNvPr>
          <p:cNvSpPr txBox="1"/>
          <p:nvPr/>
        </p:nvSpPr>
        <p:spPr>
          <a:xfrm>
            <a:off x="838200" y="6172200"/>
            <a:ext cx="67265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Подготовил студент группы ИНБО-20-23, Школьный Илья Владимирович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СОДЕРЖАНИЕ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45719" y="1767077"/>
            <a:ext cx="10831881" cy="27744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69900" algn="l"/>
              </a:tabLst>
            </a:pPr>
            <a:r>
              <a:rPr lang="ru-RU" sz="2800" dirty="0">
                <a:latin typeface="Times New Roman"/>
                <a:cs typeface="Times New Roman"/>
              </a:rPr>
              <a:t>Работа с массивами, статистика и обработка данных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2675"/>
              </a:spcBef>
              <a:buFont typeface="Arial MT"/>
              <a:buChar char="•"/>
              <a:tabLst>
                <a:tab pos="469900" algn="l"/>
              </a:tabLst>
            </a:pPr>
            <a:r>
              <a:rPr lang="ru-RU" sz="2800" dirty="0">
                <a:latin typeface="Times New Roman"/>
                <a:cs typeface="Times New Roman"/>
              </a:rPr>
              <a:t>Работа с таблицами в </a:t>
            </a:r>
            <a:r>
              <a:rPr lang="en-US" sz="2800" dirty="0">
                <a:latin typeface="Times New Roman"/>
                <a:cs typeface="Times New Roman"/>
              </a:rPr>
              <a:t>Pandas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2690"/>
              </a:spcBef>
              <a:buFont typeface="Arial MT"/>
              <a:buChar char="•"/>
              <a:tabLst>
                <a:tab pos="469900" algn="l"/>
              </a:tabLst>
            </a:pPr>
            <a:r>
              <a:rPr lang="ru-RU" sz="2800" dirty="0">
                <a:latin typeface="Times New Roman"/>
                <a:cs typeface="Times New Roman"/>
              </a:rPr>
              <a:t>Визуализация многомерных и категориальных данных</a:t>
            </a:r>
          </a:p>
          <a:p>
            <a:pPr marL="469900" indent="-457200">
              <a:lnSpc>
                <a:spcPct val="100000"/>
              </a:lnSpc>
              <a:spcBef>
                <a:spcPts val="2690"/>
              </a:spcBef>
              <a:buFont typeface="Arial MT"/>
              <a:buChar char="•"/>
              <a:tabLst>
                <a:tab pos="469900" algn="l"/>
              </a:tabLst>
            </a:pPr>
            <a:r>
              <a:rPr lang="ru-RU" sz="2800" dirty="0">
                <a:latin typeface="Times New Roman"/>
                <a:cs typeface="Times New Roman"/>
              </a:rPr>
              <a:t>Скользящее окно на одномерных данных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9CDF0E-3E7D-B8EC-5118-DF89C096E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527" y="628853"/>
            <a:ext cx="9246235" cy="1047547"/>
          </a:xfrm>
        </p:spPr>
        <p:txBody>
          <a:bodyPr/>
          <a:lstStyle/>
          <a:p>
            <a:r>
              <a:rPr lang="ru-RU" dirty="0"/>
              <a:t>Задание 1. Работа с массивами, статистика и обработка данных</a:t>
            </a:r>
            <a:br>
              <a:rPr lang="ru-RU" dirty="0"/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58B838F-3C5D-313B-D68B-969A3ECD3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3527" y="2133600"/>
            <a:ext cx="9655810" cy="3791872"/>
          </a:xfrm>
        </p:spPr>
        <p:txBody>
          <a:bodyPr/>
          <a:lstStyle/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Генерация данных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сгенерируйте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-массив размером 100 с равномерным распределением от -100 до 50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numpy.random.uniform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сгенерируйте массив из 100 случайных значений по нормальному распределению со средним 10 и σ = 5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numpy.random.normal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сгенерируйте массив из 100 значений, распределённых по экспоненциальному закону с параметром 𝜆 = 0.5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numpy.random.exponential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постройте гистограммы всех трёх массивов на одном графике (используйте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или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нормируйте плотность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density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=True). Подпишите графики: укажите параметры, сравните формы распределений. Где «тяжёлый хвост»? Где симметрия?</a:t>
            </a:r>
          </a:p>
          <a:p>
            <a:pPr>
              <a:lnSpc>
                <a:spcPct val="15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397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2054A92-6093-6121-6749-55240ABA3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726" y="725805"/>
            <a:ext cx="8136547" cy="540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316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1A740-2467-EB70-1485-7FC3CD9FB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AA10E0-1E2A-2286-CDBA-B9709A28C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527" y="628853"/>
            <a:ext cx="9246235" cy="1047547"/>
          </a:xfrm>
        </p:spPr>
        <p:txBody>
          <a:bodyPr/>
          <a:lstStyle/>
          <a:p>
            <a:r>
              <a:rPr lang="ru-RU" dirty="0"/>
              <a:t>Задание 1. Работа с массивами, статистика и обработка данных</a:t>
            </a:r>
            <a:br>
              <a:rPr lang="ru-RU" dirty="0"/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A15486D-C4C3-FD1F-D14A-26296BEB3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3527" y="1905000"/>
            <a:ext cx="9655810" cy="4001095"/>
          </a:xfrm>
        </p:spPr>
        <p:txBody>
          <a:bodyPr/>
          <a:lstStyle/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Алгебра, фильтрация и статистика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реализуйте нормализацию z-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вручную, без использования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stats.zscore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реализуйте проверку на выбросы, например, выбросами будут считаться элементы с |z|&gt;2.5;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постройте гистограмму нормализованных значений и выделите выбросы другим цветом;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отфильтруйте все элементы, находящиеся в пределах ±1σ, затем — в пределах ±1,5σ. Сравните количество таких элементов;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вычислите вручную ковариацию, дисперсию и корреляцию Пирсона между двумя массивами;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вычислите ковариацию, дисперсию и корреляцию Пирсона между двумя массивами с использованием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numpy.cov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numpy.var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numpy.corrcoef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099735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9F654C3-B44C-AB28-5D80-0DE9D616E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19897"/>
            <a:ext cx="8967276" cy="341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210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7F4BE40-8607-89E0-4ADC-7CC08B423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743200"/>
            <a:ext cx="4852829" cy="389264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766EC6-A756-8080-FA6B-481183CF9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228600"/>
            <a:ext cx="4852829" cy="3938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241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6E060-6831-9D30-4FC8-DD3443361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470EE2-4E2A-C54A-E1F4-9DCBC410E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527" y="628853"/>
            <a:ext cx="9246235" cy="1047547"/>
          </a:xfrm>
        </p:spPr>
        <p:txBody>
          <a:bodyPr/>
          <a:lstStyle/>
          <a:p>
            <a:r>
              <a:rPr lang="ru-RU" dirty="0"/>
              <a:t>Задание 1. Работа с массивами, статистика и обработка данных</a:t>
            </a:r>
            <a:br>
              <a:rPr lang="ru-RU" dirty="0"/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1E13A37-3BD4-CFB1-CFA7-9B9D2477D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3527" y="1905000"/>
            <a:ext cx="9655810" cy="2769989"/>
          </a:xfrm>
        </p:spPr>
        <p:txBody>
          <a:bodyPr/>
          <a:lstStyle/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Срезы и условия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выделите из равномерного массива все подпоследовательности длиной 3, в которых сумма &gt; 30: через цикл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с помощью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Сравните производительность двух подходов;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реализуйте вручную алгоритм вычисления экспоненциального сглаживания (EMA) с фактором затухания 0.2 для массива с нормальным распределением;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реализуйте алгоритм вычисления экспоненциального сглаживания (EMA) с фактором затухания 0.2 через библиотеку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визуализируйте полученные EMA и сравните результаты.</a:t>
            </a:r>
          </a:p>
        </p:txBody>
      </p:sp>
    </p:spTree>
    <p:extLst>
      <p:ext uri="{BB962C8B-B14F-4D97-AF65-F5344CB8AC3E}">
        <p14:creationId xmlns:p14="http://schemas.microsoft.com/office/powerpoint/2010/main" val="607463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63FC93B-019A-BBAB-0269-A20999A95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194" y="904611"/>
            <a:ext cx="7313612" cy="5048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671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FB169DF-6150-749C-20BE-D9850AF53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694" y="743494"/>
            <a:ext cx="7694612" cy="537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37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7209E-9905-CCFF-A8B2-87C54BF88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055133-6A32-9D45-FB0F-E147F2CAA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527" y="628853"/>
            <a:ext cx="9246235" cy="1047547"/>
          </a:xfrm>
        </p:spPr>
        <p:txBody>
          <a:bodyPr/>
          <a:lstStyle/>
          <a:p>
            <a:r>
              <a:rPr lang="ru-RU" dirty="0"/>
              <a:t>Задание 1. Работа с массивами, статистика и обработка данных</a:t>
            </a:r>
            <a:br>
              <a:rPr lang="ru-RU" dirty="0"/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1CDD71E-25A9-ABCE-E8C3-5A32ABD3A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3527" y="1905000"/>
            <a:ext cx="9655810" cy="1231106"/>
          </a:xfrm>
        </p:spPr>
        <p:txBody>
          <a:bodyPr/>
          <a:lstStyle/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Индексация и маски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преобразуйте массив в матрицу 10×10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reshape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установите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np.nan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те элементы, которые являются локальными минимумами по строкам.</a:t>
            </a:r>
          </a:p>
        </p:txBody>
      </p:sp>
    </p:spTree>
    <p:extLst>
      <p:ext uri="{BB962C8B-B14F-4D97-AF65-F5344CB8AC3E}">
        <p14:creationId xmlns:p14="http://schemas.microsoft.com/office/powerpoint/2010/main" val="1934440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970CD-00D2-000F-A5A4-98101FEBD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A4D280-E87D-4C15-703E-2DF3780D8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527" y="628853"/>
            <a:ext cx="9246235" cy="492443"/>
          </a:xfrm>
        </p:spPr>
        <p:txBody>
          <a:bodyPr/>
          <a:lstStyle/>
          <a:p>
            <a:r>
              <a:rPr lang="ru-RU" dirty="0"/>
              <a:t>Задание 2. Работа с таблицами в </a:t>
            </a:r>
            <a:r>
              <a:rPr lang="en-US" dirty="0"/>
              <a:t>Pandas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F203134-2006-0C8D-0B87-528FF43C7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3527" y="1905000"/>
            <a:ext cx="9655810" cy="2154436"/>
          </a:xfrm>
        </p:spPr>
        <p:txBody>
          <a:bodyPr/>
          <a:lstStyle/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Сгенерируйте таблицу на 500 строк с полями: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(уникальные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age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(от 18 до 65);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(зависит от возраста: например,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(1.5, 0.2));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subscription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(случайные даты за последние 2 года);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(случайно: «Север», «Юг», «Центр», «Восток», «Запад»);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булевый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флаг активности пользователя).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 программы генерации таблицы изображен в Листинге 8.</a:t>
            </a:r>
          </a:p>
        </p:txBody>
      </p:sp>
    </p:spTree>
    <p:extLst>
      <p:ext uri="{BB962C8B-B14F-4D97-AF65-F5344CB8AC3E}">
        <p14:creationId xmlns:p14="http://schemas.microsoft.com/office/powerpoint/2010/main" val="1222116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F83FFD0-0DF9-0768-57E8-BF8C24B8B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394" y="846600"/>
            <a:ext cx="7161212" cy="516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006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0CC67-0572-E913-2C81-26317DD51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67B493-61F6-80F8-E226-FE4C26766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527" y="628853"/>
            <a:ext cx="9246235" cy="492443"/>
          </a:xfrm>
        </p:spPr>
        <p:txBody>
          <a:bodyPr/>
          <a:lstStyle/>
          <a:p>
            <a:r>
              <a:rPr lang="ru-RU" dirty="0"/>
              <a:t>Задание 2. Работа с таблицами в </a:t>
            </a:r>
            <a:r>
              <a:rPr lang="en-US" dirty="0"/>
              <a:t>Pandas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4A4BEE-2734-8894-495C-1BA0714AA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3527" y="1905000"/>
            <a:ext cx="9655810" cy="1231106"/>
          </a:xfrm>
        </p:spPr>
        <p:txBody>
          <a:bodyPr/>
          <a:lstStyle/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признаками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вычислите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experience_months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количество месяцев с момента подписки;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создайте категориальный признак “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income_group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по квантилям дохода;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постройте новую метрику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loyalty_score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income / (1 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experience_months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876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F2935-FFBE-E79A-7FDE-585801717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E67686-01D4-8410-B103-BE335304C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527" y="628853"/>
            <a:ext cx="9246235" cy="492443"/>
          </a:xfrm>
        </p:spPr>
        <p:txBody>
          <a:bodyPr/>
          <a:lstStyle/>
          <a:p>
            <a:r>
              <a:rPr lang="ru-RU" dirty="0"/>
              <a:t>Задание 2. Работа с таблицами в </a:t>
            </a:r>
            <a:r>
              <a:rPr lang="en-US" dirty="0"/>
              <a:t>Pandas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E1D2AC-EF95-437D-AE94-648D79243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3527" y="1905000"/>
            <a:ext cx="9655810" cy="1231106"/>
          </a:xfrm>
        </p:spPr>
        <p:txBody>
          <a:bodyPr/>
          <a:lstStyle/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Фильтрация и агрегации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найдите средний доход активных пользователей по регионам;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постройте сводную таблицу: средний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loyalty_score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регионам и группам дохода;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найдите 5% пользователей с наибольшим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loyalty_score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168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347ED-3AD4-E839-4A2A-04D4F668B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00DD5F-215A-ED0F-98C8-33FE1B57C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527" y="628853"/>
            <a:ext cx="9246235" cy="492443"/>
          </a:xfrm>
        </p:spPr>
        <p:txBody>
          <a:bodyPr/>
          <a:lstStyle/>
          <a:p>
            <a:r>
              <a:rPr lang="ru-RU" dirty="0"/>
              <a:t>Задание 2. Работа с таблицами в </a:t>
            </a:r>
            <a:r>
              <a:rPr lang="en-US" dirty="0"/>
              <a:t>Pandas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F51A39D-30ED-15BA-EA87-D690E1EA5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3527" y="1905000"/>
            <a:ext cx="9655810" cy="923330"/>
          </a:xfrm>
        </p:spPr>
        <p:txBody>
          <a:bodyPr/>
          <a:lstStyle/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пропусков и ошибок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случайно удалите 5% значений из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income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замените их средним значением по региону;</a:t>
            </a:r>
          </a:p>
        </p:txBody>
      </p:sp>
    </p:spTree>
    <p:extLst>
      <p:ext uri="{BB962C8B-B14F-4D97-AF65-F5344CB8AC3E}">
        <p14:creationId xmlns:p14="http://schemas.microsoft.com/office/powerpoint/2010/main" val="1252132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0A400-572E-2E07-C467-38F1992A5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467AE2-2214-7C13-0E5F-D98E9192A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527" y="628853"/>
            <a:ext cx="9246235" cy="492443"/>
          </a:xfrm>
        </p:spPr>
        <p:txBody>
          <a:bodyPr/>
          <a:lstStyle/>
          <a:p>
            <a:r>
              <a:rPr lang="ru-RU" dirty="0"/>
              <a:t>Задание 2. Работа с таблицами в </a:t>
            </a:r>
            <a:r>
              <a:rPr lang="en-US" dirty="0"/>
              <a:t>Pandas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761D65-1727-9193-2907-F261FC998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3527" y="1905000"/>
            <a:ext cx="9655810" cy="923330"/>
          </a:xfrm>
        </p:spPr>
        <p:txBody>
          <a:bodyPr/>
          <a:lstStyle/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значений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реализуйте функцию контроля значений: выбрасывайте строки, где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income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или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стали некорректными (например, отрицательными).</a:t>
            </a:r>
          </a:p>
        </p:txBody>
      </p:sp>
    </p:spTree>
    <p:extLst>
      <p:ext uri="{BB962C8B-B14F-4D97-AF65-F5344CB8AC3E}">
        <p14:creationId xmlns:p14="http://schemas.microsoft.com/office/powerpoint/2010/main" val="3144422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55545-17A8-4220-79E1-DD5AF495B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D9E575-5B02-0FD8-81FA-889A5CE7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527" y="628853"/>
            <a:ext cx="9246235" cy="984885"/>
          </a:xfrm>
        </p:spPr>
        <p:txBody>
          <a:bodyPr/>
          <a:lstStyle/>
          <a:p>
            <a:r>
              <a:rPr lang="ru-RU" dirty="0"/>
              <a:t>Задание </a:t>
            </a:r>
            <a:r>
              <a:rPr lang="en-US" dirty="0"/>
              <a:t>3</a:t>
            </a:r>
            <a:r>
              <a:rPr lang="ru-RU" dirty="0"/>
              <a:t>. Визуализация многомерных и категориальных данных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8AEFA6-F2B7-055F-1296-DD4E4C887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3527" y="1905000"/>
            <a:ext cx="9655810" cy="1538883"/>
          </a:xfrm>
        </p:spPr>
        <p:txBody>
          <a:bodyPr/>
          <a:lstStyle/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Обзор данных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ознакомьтесь с описанием признаков;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проверьте данные на наличие дубликатов и пропусков, устраните их при наличии;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преобразуйте признаки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clarity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упорядоченные категории согласно логике качества (например, Fair &lt; Good &lt;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Good &lt; Premium &lt;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Ideal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768549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650F2-889B-50BB-4012-6E2D18F1D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7AB7EB-6C79-B0FF-9DCB-EC1F14D2C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527" y="628853"/>
            <a:ext cx="9246235" cy="984885"/>
          </a:xfrm>
        </p:spPr>
        <p:txBody>
          <a:bodyPr/>
          <a:lstStyle/>
          <a:p>
            <a:r>
              <a:rPr lang="ru-RU" dirty="0"/>
              <a:t>Задание </a:t>
            </a:r>
            <a:r>
              <a:rPr lang="en-US" dirty="0"/>
              <a:t>3</a:t>
            </a:r>
            <a:r>
              <a:rPr lang="ru-RU" dirty="0"/>
              <a:t>. Визуализация многомерных и категориальных данных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CDF0B56-0445-B49B-F601-E58F6E854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3527" y="1905000"/>
            <a:ext cx="9655810" cy="1846659"/>
          </a:xfrm>
        </p:spPr>
        <p:txBody>
          <a:bodyPr/>
          <a:lstStyle/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 одномерных распределений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постройте гистограмму распределения переменной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логарифмическим масштабом;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постройте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boxplot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распределения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зависимости от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постройте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violinplot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зависимости от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clarity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проанализируйте, где наблюдаются выбросы.</a:t>
            </a:r>
          </a:p>
        </p:txBody>
      </p:sp>
    </p:spTree>
    <p:extLst>
      <p:ext uri="{BB962C8B-B14F-4D97-AF65-F5344CB8AC3E}">
        <p14:creationId xmlns:p14="http://schemas.microsoft.com/office/powerpoint/2010/main" val="30779033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4FE23F5-8D97-021D-590E-D6638F493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485" y="1630362"/>
            <a:ext cx="8651030" cy="359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911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AB08B-6DA3-F5E2-B355-8EB78618E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91650D-1B27-DF5B-53E5-6880A0962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527" y="628853"/>
            <a:ext cx="9246235" cy="984885"/>
          </a:xfrm>
        </p:spPr>
        <p:txBody>
          <a:bodyPr/>
          <a:lstStyle/>
          <a:p>
            <a:r>
              <a:rPr lang="ru-RU" dirty="0"/>
              <a:t>Задание </a:t>
            </a:r>
            <a:r>
              <a:rPr lang="en-US" dirty="0"/>
              <a:t>3</a:t>
            </a:r>
            <a:r>
              <a:rPr lang="ru-RU" dirty="0"/>
              <a:t>. Визуализация многомерных и категориальных данных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7F0EF1-20EB-E2E3-1DC7-AF3BB95F8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3527" y="1905000"/>
            <a:ext cx="9655810" cy="1538883"/>
          </a:xfrm>
        </p:spPr>
        <p:txBody>
          <a:bodyPr/>
          <a:lstStyle/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многомерных зависимостей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постройте тепловую карту корреляции между числовыми признаками;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постройте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pairplot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признаков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depth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закодировав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как цвет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проанализируйте, какая комбинация признаков наиболее визуально предсказывает цену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590658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46B3729-5F4F-2791-AF73-B04C43428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994" y="475436"/>
            <a:ext cx="6704012" cy="590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9317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27990-67CF-9474-AA75-3DADCB41A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006FF26-0219-EF07-121F-66D28456C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43994" y="569126"/>
            <a:ext cx="6704012" cy="571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0811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DA3CA-EA1D-B22F-D32E-303A72693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EFB0AF-97CC-0206-BBE5-777805741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527" y="628853"/>
            <a:ext cx="9246235" cy="984885"/>
          </a:xfrm>
        </p:spPr>
        <p:txBody>
          <a:bodyPr/>
          <a:lstStyle/>
          <a:p>
            <a:r>
              <a:rPr lang="ru-RU" dirty="0"/>
              <a:t>Задание </a:t>
            </a:r>
            <a:r>
              <a:rPr lang="en-US" dirty="0"/>
              <a:t>3</a:t>
            </a:r>
            <a:r>
              <a:rPr lang="ru-RU" dirty="0"/>
              <a:t>. Визуализация многомерных и категориальных данных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6D9B9A5-644C-0194-88DF-315545F2B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3527" y="1905000"/>
            <a:ext cx="9655810" cy="1846659"/>
          </a:xfrm>
        </p:spPr>
        <p:txBody>
          <a:bodyPr/>
          <a:lstStyle/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 категориальных признаков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постройте сводную таблицу, показывающую среднюю цену в зависимости от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ее основе постройте тепловую карту и ответьте на следующие вопросы: Какой цвет и огранка в среднем наиболее дорогие? Есть ли закономерности? Если да, то какие?</a:t>
            </a:r>
          </a:p>
        </p:txBody>
      </p:sp>
    </p:spTree>
    <p:extLst>
      <p:ext uri="{BB962C8B-B14F-4D97-AF65-F5344CB8AC3E}">
        <p14:creationId xmlns:p14="http://schemas.microsoft.com/office/powerpoint/2010/main" val="13732807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B2341-4250-F13F-D2FD-67E50AE7C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CD24A00-AF63-EA1B-1C91-1ECB23996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43994" y="1061257"/>
            <a:ext cx="6704012" cy="473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451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14225-F231-F90D-9B74-A12783167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1DF180-BD88-6E2B-FFDB-7F0E39A2F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2400"/>
            <a:ext cx="9246235" cy="984885"/>
          </a:xfrm>
        </p:spPr>
        <p:txBody>
          <a:bodyPr/>
          <a:lstStyle/>
          <a:p>
            <a:r>
              <a:rPr lang="ru-RU" dirty="0"/>
              <a:t>Задание 4. Скользящее окно на одномерных данных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1D397CF-2DD8-1860-741D-4451DFF50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255"/>
          <a:stretch>
            <a:fillRect/>
          </a:stretch>
        </p:blipFill>
        <p:spPr bwMode="auto">
          <a:xfrm>
            <a:off x="3153174" y="2278856"/>
            <a:ext cx="5885651" cy="230028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507863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6998" y="3048126"/>
            <a:ext cx="54343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СПАСИБО</a:t>
            </a:r>
            <a:r>
              <a:rPr spc="-105" dirty="0"/>
              <a:t> </a:t>
            </a:r>
            <a:r>
              <a:rPr dirty="0"/>
              <a:t>ЗА</a:t>
            </a:r>
            <a:r>
              <a:rPr spc="-60" dirty="0"/>
              <a:t> </a:t>
            </a:r>
            <a:r>
              <a:rPr spc="-10" dirty="0"/>
              <a:t>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891</Words>
  <Application>Microsoft Office PowerPoint</Application>
  <PresentationFormat>Широкоэкранный</PresentationFormat>
  <Paragraphs>76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2" baseType="lpstr">
      <vt:lpstr>Arial</vt:lpstr>
      <vt:lpstr>Arial MT</vt:lpstr>
      <vt:lpstr>Calibri</vt:lpstr>
      <vt:lpstr>Times New Roman</vt:lpstr>
      <vt:lpstr>Office Theme</vt:lpstr>
      <vt:lpstr>Защита практической работы №1</vt:lpstr>
      <vt:lpstr>СОДЕРЖАНИЕ</vt:lpstr>
      <vt:lpstr>Задание 1. Работа с массивами, статистика и обработка данных </vt:lpstr>
      <vt:lpstr>Презентация PowerPoint</vt:lpstr>
      <vt:lpstr>Задание 1. Работа с массивами, статистика и обработка данных </vt:lpstr>
      <vt:lpstr>Презентация PowerPoint</vt:lpstr>
      <vt:lpstr>Презентация PowerPoint</vt:lpstr>
      <vt:lpstr>Задание 1. Работа с массивами, статистика и обработка данных </vt:lpstr>
      <vt:lpstr>Презентация PowerPoint</vt:lpstr>
      <vt:lpstr>Презентация PowerPoint</vt:lpstr>
      <vt:lpstr>Задание 1. Работа с массивами, статистика и обработка данных </vt:lpstr>
      <vt:lpstr>Задание 2. Работа с таблицами в Pandas</vt:lpstr>
      <vt:lpstr>Презентация PowerPoint</vt:lpstr>
      <vt:lpstr>Задание 2. Работа с таблицами в Pandas</vt:lpstr>
      <vt:lpstr>Задание 2. Работа с таблицами в Pandas</vt:lpstr>
      <vt:lpstr>Задание 2. Работа с таблицами в Pandas</vt:lpstr>
      <vt:lpstr>Задание 2. Работа с таблицами в Pandas</vt:lpstr>
      <vt:lpstr>Задание 3. Визуализация многомерных и категориальных данных</vt:lpstr>
      <vt:lpstr>Задание 3. Визуализация многомерных и категориальных данных</vt:lpstr>
      <vt:lpstr>Презентация PowerPoint</vt:lpstr>
      <vt:lpstr>Задание 3. Визуализация многомерных и категориальных данных</vt:lpstr>
      <vt:lpstr>Презентация PowerPoint</vt:lpstr>
      <vt:lpstr>Презентация PowerPoint</vt:lpstr>
      <vt:lpstr>Задание 3. Визуализация многомерных и категориальных данных</vt:lpstr>
      <vt:lpstr>Презентация PowerPoint</vt:lpstr>
      <vt:lpstr>Задание 4. Скользящее окно на одномерных данных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cp:lastModifiedBy>Shkolnyi Ilya</cp:lastModifiedBy>
  <cp:revision>1</cp:revision>
  <dcterms:created xsi:type="dcterms:W3CDTF">2025-09-24T10:43:12Z</dcterms:created>
  <dcterms:modified xsi:type="dcterms:W3CDTF">2025-09-24T11:13:03Z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2025-08-21T00:00:00Z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2025-09-24T00:00:00Z</vt:filetime>
  </property>
  <property fmtid="{D5CDD505-2E9C-101B-9397-08002B2CF9AE}" pid="5" name="Producer">
    <vt:lpwstr>macOS Версия 15.0.1 (Выпуск 24A348) Quartz PDFContext</vt:lpwstr>
  </property>
</Properties>
</file>